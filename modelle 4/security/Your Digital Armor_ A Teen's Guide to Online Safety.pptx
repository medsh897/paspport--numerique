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image" Target="../media/image-9-25.png"/><Relationship Id="rId26" Type="http://schemas.openxmlformats.org/officeDocument/2006/relationships/image" Target="../media/image-9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75" y="1285875"/>
            <a:ext cx="4286250" cy="42862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0" y="2000250"/>
            <a:ext cx="2857500" cy="2857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3538" y="1676400"/>
            <a:ext cx="342900" cy="3429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2638" y="1676400"/>
            <a:ext cx="428625" cy="3429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7463" y="1676400"/>
            <a:ext cx="304800" cy="3429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8800" y="3733800"/>
            <a:ext cx="914400" cy="381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0412" y="415290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48263" y="4152900"/>
            <a:ext cx="200025" cy="304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6702" y="41529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7096" y="4152900"/>
            <a:ext cx="257175" cy="3048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1539895" y="2286000"/>
            <a:ext cx="91122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spc="180" kern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YOUR </a:t>
            </a:r>
            <a:pPr algn="ctr" indent="0" marL="0">
              <a:lnSpc>
                <a:spcPts val="4500"/>
              </a:lnSpc>
              <a:buNone/>
            </a:pPr>
            <a:r>
              <a:rPr lang="en-US" sz="4500" b="1" spc="180" kern="0" dirty="0">
                <a:solidFill>
                  <a:srgbClr val="00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DIGITAL</a:t>
            </a:r>
            <a:pPr algn="ctr" indent="0" marL="0">
              <a:lnSpc>
                <a:spcPts val="4500"/>
              </a:lnSpc>
              <a:buNone/>
            </a:pPr>
            <a:r>
              <a:rPr lang="en-US" sz="4500" b="1" spc="180" kern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ARMOR</a:t>
            </a:r>
            <a:endParaRPr lang="en-US" sz="4500" dirty="0"/>
          </a:p>
        </p:txBody>
      </p:sp>
      <p:sp>
        <p:nvSpPr>
          <p:cNvPr id="15" name="Text 1"/>
          <p:cNvSpPr/>
          <p:nvPr/>
        </p:nvSpPr>
        <p:spPr>
          <a:xfrm>
            <a:off x="1539895" y="3009900"/>
            <a:ext cx="91122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Teen's Guide to Online Safety</a:t>
            </a:r>
            <a:endParaRPr lang="en-US" sz="2250" dirty="0"/>
          </a:p>
        </p:txBody>
      </p:sp>
      <p:sp>
        <p:nvSpPr>
          <p:cNvPr id="16" name="Text 2"/>
          <p:cNvSpPr/>
          <p:nvPr/>
        </p:nvSpPr>
        <p:spPr>
          <a:xfrm>
            <a:off x="3291408" y="4533900"/>
            <a:ext cx="11867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Common Risks</a:t>
            </a:r>
            <a:endParaRPr lang="en-US" sz="1050" dirty="0"/>
          </a:p>
        </p:txBody>
      </p:sp>
      <p:sp>
        <p:nvSpPr>
          <p:cNvPr id="17" name="Text 3"/>
          <p:cNvSpPr/>
          <p:nvPr/>
        </p:nvSpPr>
        <p:spPr>
          <a:xfrm>
            <a:off x="4571226" y="4533900"/>
            <a:ext cx="13540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Account Security</a:t>
            </a:r>
            <a:endParaRPr lang="en-US" sz="1050" dirty="0"/>
          </a:p>
        </p:txBody>
      </p:sp>
      <p:sp>
        <p:nvSpPr>
          <p:cNvPr id="18" name="Text 4"/>
          <p:cNvSpPr/>
          <p:nvPr/>
        </p:nvSpPr>
        <p:spPr>
          <a:xfrm>
            <a:off x="6022524" y="4533900"/>
            <a:ext cx="11371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Safe Browsing</a:t>
            </a:r>
            <a:endParaRPr lang="en-US" sz="1050" dirty="0"/>
          </a:p>
        </p:txBody>
      </p:sp>
      <p:sp>
        <p:nvSpPr>
          <p:cNvPr id="19" name="Text 5"/>
          <p:cNvSpPr/>
          <p:nvPr/>
        </p:nvSpPr>
        <p:spPr>
          <a:xfrm>
            <a:off x="7226469" y="4533900"/>
            <a:ext cx="17184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Identity Management</a:t>
            </a:r>
            <a:endParaRPr lang="en-US" sz="1050" dirty="0"/>
          </a:p>
        </p:txBody>
      </p:sp>
      <p:sp>
        <p:nvSpPr>
          <p:cNvPr id="20" name="Text 6"/>
          <p:cNvSpPr/>
          <p:nvPr/>
        </p:nvSpPr>
        <p:spPr>
          <a:xfrm>
            <a:off x="8048833" y="4686300"/>
            <a:ext cx="15959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November 14,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62100"/>
            <a:ext cx="3657600" cy="30099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286000"/>
            <a:ext cx="76200" cy="152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819400"/>
            <a:ext cx="76200" cy="152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352800"/>
            <a:ext cx="762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886200"/>
            <a:ext cx="762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7200" y="1562100"/>
            <a:ext cx="3657600" cy="30099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5800" y="1790700"/>
            <a:ext cx="323850" cy="3429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2324100"/>
            <a:ext cx="762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2857500"/>
            <a:ext cx="762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3390900"/>
            <a:ext cx="762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0" y="3924300"/>
            <a:ext cx="7620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53400" y="1562100"/>
            <a:ext cx="3657600" cy="30099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2000" y="1790700"/>
            <a:ext cx="247650" cy="3429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58200" y="2324100"/>
            <a:ext cx="762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58200" y="2857500"/>
            <a:ext cx="76200" cy="152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58200" y="3390900"/>
            <a:ext cx="7620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58200" y="3924300"/>
            <a:ext cx="76200" cy="1524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Digital Shadows: </a:t>
            </a:r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BF0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Common Online Risks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381000" y="838200"/>
            <a:ext cx="1143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the threats lurking in the digital world</a:t>
            </a:r>
            <a:endParaRPr lang="en-US" sz="1350" dirty="0"/>
          </a:p>
        </p:txBody>
      </p:sp>
      <p:sp>
        <p:nvSpPr>
          <p:cNvPr id="23" name="Text 2"/>
          <p:cNvSpPr/>
          <p:nvPr/>
        </p:nvSpPr>
        <p:spPr>
          <a:xfrm>
            <a:off x="723900" y="1790700"/>
            <a:ext cx="23933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Phishing &amp; Scams</a:t>
            </a:r>
            <a:endParaRPr lang="en-US" sz="1800" dirty="0"/>
          </a:p>
        </p:txBody>
      </p:sp>
      <p:sp>
        <p:nvSpPr>
          <p:cNvPr id="24" name="Text 3"/>
          <p:cNvSpPr/>
          <p:nvPr/>
        </p:nvSpPr>
        <p:spPr>
          <a:xfrm>
            <a:off x="838200" y="22479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Fake Login Pages: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Messages with links to fake social media or email logins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838200" y="27813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Urgent Messages: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Scammers pretending to be from banks or services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838200" y="33147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"Win a Prize" DMs: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Social media messages about contests you didn't enter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838200" y="38481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Catfishing: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Predators creating fake identities to build relationships</a:t>
            </a:r>
            <a:endParaRPr lang="en-US" sz="1200" dirty="0"/>
          </a:p>
        </p:txBody>
      </p:sp>
      <p:sp>
        <p:nvSpPr>
          <p:cNvPr id="28" name="Text 7"/>
          <p:cNvSpPr/>
          <p:nvPr/>
        </p:nvSpPr>
        <p:spPr>
          <a:xfrm>
            <a:off x="4933950" y="1809750"/>
            <a:ext cx="24194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Malware &amp; Viruses</a:t>
            </a:r>
            <a:endParaRPr lang="en-US" sz="1800" dirty="0"/>
          </a:p>
        </p:txBody>
      </p:sp>
      <p:sp>
        <p:nvSpPr>
          <p:cNvPr id="29" name="Text 8"/>
          <p:cNvSpPr/>
          <p:nvPr/>
        </p:nvSpPr>
        <p:spPr>
          <a:xfrm>
            <a:off x="4724400" y="2286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Untrusted Downloads: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Software from unofficial websites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4724400" y="2819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Suspicious Links: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emails, pop-ups, or unfamiliar messages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4724400" y="3352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Infected "Free" Downloads: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Malware bundled with free software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4724400" y="3886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Ransomware: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Malware that locks your computer or encrypts files</a:t>
            </a:r>
            <a:endParaRPr lang="en-US" sz="1200" dirty="0"/>
          </a:p>
        </p:txBody>
      </p:sp>
      <p:sp>
        <p:nvSpPr>
          <p:cNvPr id="33" name="Text 12"/>
          <p:cNvSpPr/>
          <p:nvPr/>
        </p:nvSpPr>
        <p:spPr>
          <a:xfrm>
            <a:off x="8743950" y="1809750"/>
            <a:ext cx="303448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Leaks &amp; Breaches</a:t>
            </a:r>
            <a:endParaRPr lang="en-US" sz="1800" dirty="0"/>
          </a:p>
        </p:txBody>
      </p:sp>
      <p:sp>
        <p:nvSpPr>
          <p:cNvPr id="34" name="Text 13"/>
          <p:cNvSpPr/>
          <p:nvPr/>
        </p:nvSpPr>
        <p:spPr>
          <a:xfrm>
            <a:off x="8610600" y="2286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Company Hacks: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Cybercriminals targeting companies to steal user data</a:t>
            </a:r>
            <a:endParaRPr lang="en-US" sz="1200" dirty="0"/>
          </a:p>
        </p:txBody>
      </p:sp>
      <p:sp>
        <p:nvSpPr>
          <p:cNvPr id="35" name="Text 14"/>
          <p:cNvSpPr/>
          <p:nvPr/>
        </p:nvSpPr>
        <p:spPr>
          <a:xfrm>
            <a:off x="8610600" y="2819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Weak Security: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Companies with inadequate security measures</a:t>
            </a:r>
            <a:endParaRPr lang="en-US" sz="1200" dirty="0"/>
          </a:p>
        </p:txBody>
      </p:sp>
      <p:sp>
        <p:nvSpPr>
          <p:cNvPr id="36" name="Text 15"/>
          <p:cNvSpPr/>
          <p:nvPr/>
        </p:nvSpPr>
        <p:spPr>
          <a:xfrm>
            <a:off x="8610600" y="3352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Third-Party Sharing: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Social media platforms sharing data with advertisers</a:t>
            </a:r>
            <a:endParaRPr lang="en-US" sz="1200" dirty="0"/>
          </a:p>
        </p:txBody>
      </p:sp>
      <p:sp>
        <p:nvSpPr>
          <p:cNvPr id="37" name="Text 16"/>
          <p:cNvSpPr/>
          <p:nvPr/>
        </p:nvSpPr>
        <p:spPr>
          <a:xfrm>
            <a:off x="8610600" y="3886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Consequences: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Identity theft, fraudulent purchases, password reuse</a:t>
            </a:r>
            <a:endParaRPr lang="en-US" sz="1200" dirty="0"/>
          </a:p>
        </p:txBody>
      </p:sp>
      <p:sp>
        <p:nvSpPr>
          <p:cNvPr id="38" name="Text 17"/>
          <p:cNvSpPr/>
          <p:nvPr/>
        </p:nvSpPr>
        <p:spPr>
          <a:xfrm>
            <a:off x="590550" y="6286500"/>
            <a:ext cx="1371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BF0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Did you know?</a:t>
            </a:r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2023, 9.95% of tweens and 20.54% of teens encountered predatory behaviors online.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181100"/>
            <a:ext cx="5695950" cy="22669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335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714500"/>
            <a:ext cx="5391150" cy="8953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686050"/>
            <a:ext cx="5391150" cy="609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1181100"/>
            <a:ext cx="5695950" cy="22669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3650" y="133350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3650" y="1714500"/>
            <a:ext cx="5391150" cy="8572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3650" y="2647950"/>
            <a:ext cx="5391150" cy="609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3638550"/>
            <a:ext cx="5695950" cy="22288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3790950"/>
            <a:ext cx="257175" cy="304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4171950"/>
            <a:ext cx="5391150" cy="8572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5105400"/>
            <a:ext cx="5391150" cy="6096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91250" y="3638550"/>
            <a:ext cx="5695950" cy="22288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43650" y="3790950"/>
            <a:ext cx="200025" cy="3048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43650" y="4171950"/>
            <a:ext cx="5391150" cy="8572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43650" y="5105400"/>
            <a:ext cx="5391150" cy="6096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04800" y="304800"/>
            <a:ext cx="138988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Phishing &amp; Scams: </a:t>
            </a:r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BF0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Spotting the Traps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304800" y="762000"/>
            <a:ext cx="1158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 to identify these common online scams</a:t>
            </a:r>
            <a:endParaRPr lang="en-US" sz="1350" dirty="0"/>
          </a:p>
        </p:txBody>
      </p:sp>
      <p:sp>
        <p:nvSpPr>
          <p:cNvPr id="22" name="Text 2"/>
          <p:cNvSpPr/>
          <p:nvPr/>
        </p:nvSpPr>
        <p:spPr>
          <a:xfrm>
            <a:off x="800100" y="1352550"/>
            <a:ext cx="19438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Fake Login Pages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533400" y="1790700"/>
            <a:ext cx="523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 Flags: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533400" y="2057400"/>
            <a:ext cx="523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Misspelled URLs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533400" y="2305050"/>
            <a:ext cx="628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Suspicious security certificates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533400" y="2762250"/>
            <a:ext cx="523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Check: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533400" y="2990850"/>
            <a:ext cx="628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Look for "https://" and padlock icon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6686550" y="1352550"/>
            <a:ext cx="21809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Urgent Emails/Texts</a:t>
            </a:r>
            <a:endParaRPr lang="en-US" sz="1500" dirty="0"/>
          </a:p>
        </p:txBody>
      </p:sp>
      <p:sp>
        <p:nvSpPr>
          <p:cNvPr id="29" name="Text 9"/>
          <p:cNvSpPr/>
          <p:nvPr/>
        </p:nvSpPr>
        <p:spPr>
          <a:xfrm>
            <a:off x="6419850" y="1790700"/>
            <a:ext cx="523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 Flags:</a:t>
            </a:r>
            <a:endParaRPr lang="en-US" sz="1200" dirty="0"/>
          </a:p>
        </p:txBody>
      </p:sp>
      <p:sp>
        <p:nvSpPr>
          <p:cNvPr id="30" name="Text 10"/>
          <p:cNvSpPr/>
          <p:nvPr/>
        </p:nvSpPr>
        <p:spPr>
          <a:xfrm>
            <a:off x="6419850" y="2019300"/>
            <a:ext cx="628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Claims requiring immediate action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6419850" y="2266950"/>
            <a:ext cx="628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Generic greetings like "Dear Customer"</a:t>
            </a:r>
            <a:endParaRPr lang="en-US" sz="1200" dirty="0"/>
          </a:p>
        </p:txBody>
      </p:sp>
      <p:sp>
        <p:nvSpPr>
          <p:cNvPr id="32" name="Text 12"/>
          <p:cNvSpPr/>
          <p:nvPr/>
        </p:nvSpPr>
        <p:spPr>
          <a:xfrm>
            <a:off x="6419850" y="2724150"/>
            <a:ext cx="523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Check:</a:t>
            </a:r>
            <a:endParaRPr lang="en-US" sz="1200" dirty="0"/>
          </a:p>
        </p:txBody>
      </p:sp>
      <p:sp>
        <p:nvSpPr>
          <p:cNvPr id="33" name="Text 13"/>
          <p:cNvSpPr/>
          <p:nvPr/>
        </p:nvSpPr>
        <p:spPr>
          <a:xfrm>
            <a:off x="6419850" y="2952750"/>
            <a:ext cx="628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Contact the organization directly</a:t>
            </a:r>
            <a:endParaRPr lang="en-US" sz="1200" dirty="0"/>
          </a:p>
        </p:txBody>
      </p:sp>
      <p:sp>
        <p:nvSpPr>
          <p:cNvPr id="34" name="Text 14"/>
          <p:cNvSpPr/>
          <p:nvPr/>
        </p:nvSpPr>
        <p:spPr>
          <a:xfrm>
            <a:off x="828675" y="3810000"/>
            <a:ext cx="19804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"Win a Prize" DMs</a:t>
            </a:r>
            <a:endParaRPr lang="en-US" sz="1500" dirty="0"/>
          </a:p>
        </p:txBody>
      </p:sp>
      <p:sp>
        <p:nvSpPr>
          <p:cNvPr id="35" name="Text 15"/>
          <p:cNvSpPr/>
          <p:nvPr/>
        </p:nvSpPr>
        <p:spPr>
          <a:xfrm>
            <a:off x="533400" y="4248150"/>
            <a:ext cx="523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 Flags:</a:t>
            </a:r>
            <a:endParaRPr lang="en-US" sz="1200" dirty="0"/>
          </a:p>
        </p:txBody>
      </p:sp>
      <p:sp>
        <p:nvSpPr>
          <p:cNvPr id="36" name="Text 16"/>
          <p:cNvSpPr/>
          <p:nvPr/>
        </p:nvSpPr>
        <p:spPr>
          <a:xfrm>
            <a:off x="533400" y="4476750"/>
            <a:ext cx="628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Unexpected notifications of winnings</a:t>
            </a:r>
            <a:endParaRPr lang="en-US" sz="1200" dirty="0"/>
          </a:p>
        </p:txBody>
      </p:sp>
      <p:sp>
        <p:nvSpPr>
          <p:cNvPr id="37" name="Text 17"/>
          <p:cNvSpPr/>
          <p:nvPr/>
        </p:nvSpPr>
        <p:spPr>
          <a:xfrm>
            <a:off x="533400" y="4724400"/>
            <a:ext cx="628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Requests for personal details</a:t>
            </a:r>
            <a:endParaRPr lang="en-US" sz="1200" dirty="0"/>
          </a:p>
        </p:txBody>
      </p:sp>
      <p:sp>
        <p:nvSpPr>
          <p:cNvPr id="38" name="Text 18"/>
          <p:cNvSpPr/>
          <p:nvPr/>
        </p:nvSpPr>
        <p:spPr>
          <a:xfrm>
            <a:off x="533400" y="5181600"/>
            <a:ext cx="523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Check:</a:t>
            </a:r>
            <a:endParaRPr lang="en-US" sz="1200" dirty="0"/>
          </a:p>
        </p:txBody>
      </p:sp>
      <p:sp>
        <p:nvSpPr>
          <p:cNvPr id="39" name="Text 19"/>
          <p:cNvSpPr/>
          <p:nvPr/>
        </p:nvSpPr>
        <p:spPr>
          <a:xfrm>
            <a:off x="533400" y="5410200"/>
            <a:ext cx="523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Ignore and block the sender</a:t>
            </a:r>
            <a:endParaRPr lang="en-US" sz="1200" dirty="0"/>
          </a:p>
        </p:txBody>
      </p:sp>
      <p:sp>
        <p:nvSpPr>
          <p:cNvPr id="40" name="Text 20"/>
          <p:cNvSpPr/>
          <p:nvPr/>
        </p:nvSpPr>
        <p:spPr>
          <a:xfrm>
            <a:off x="6657975" y="3810000"/>
            <a:ext cx="25019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Catfishing &amp; Grooming</a:t>
            </a:r>
            <a:endParaRPr lang="en-US" sz="1500" dirty="0"/>
          </a:p>
        </p:txBody>
      </p:sp>
      <p:sp>
        <p:nvSpPr>
          <p:cNvPr id="41" name="Text 21"/>
          <p:cNvSpPr/>
          <p:nvPr/>
        </p:nvSpPr>
        <p:spPr>
          <a:xfrm>
            <a:off x="6419850" y="4248150"/>
            <a:ext cx="523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 Flags:</a:t>
            </a:r>
            <a:endParaRPr lang="en-US" sz="1200" dirty="0"/>
          </a:p>
        </p:txBody>
      </p:sp>
      <p:sp>
        <p:nvSpPr>
          <p:cNvPr id="42" name="Text 22"/>
          <p:cNvSpPr/>
          <p:nvPr/>
        </p:nvSpPr>
        <p:spPr>
          <a:xfrm>
            <a:off x="6419850" y="4476750"/>
            <a:ext cx="628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Fabulous but too good to be true profiles</a:t>
            </a:r>
            <a:endParaRPr lang="en-US" sz="1200" dirty="0"/>
          </a:p>
        </p:txBody>
      </p:sp>
      <p:sp>
        <p:nvSpPr>
          <p:cNvPr id="43" name="Text 23"/>
          <p:cNvSpPr/>
          <p:nvPr/>
        </p:nvSpPr>
        <p:spPr>
          <a:xfrm>
            <a:off x="6419850" y="4724400"/>
            <a:ext cx="628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Overly personal questions early on</a:t>
            </a:r>
            <a:endParaRPr lang="en-US" sz="1200" dirty="0"/>
          </a:p>
        </p:txBody>
      </p:sp>
      <p:sp>
        <p:nvSpPr>
          <p:cNvPr id="44" name="Text 24"/>
          <p:cNvSpPr/>
          <p:nvPr/>
        </p:nvSpPr>
        <p:spPr>
          <a:xfrm>
            <a:off x="6419850" y="5181600"/>
            <a:ext cx="523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Check:</a:t>
            </a:r>
            <a:endParaRPr lang="en-US" sz="1200" dirty="0"/>
          </a:p>
        </p:txBody>
      </p:sp>
      <p:sp>
        <p:nvSpPr>
          <p:cNvPr id="45" name="Text 25"/>
          <p:cNvSpPr/>
          <p:nvPr/>
        </p:nvSpPr>
        <p:spPr>
          <a:xfrm>
            <a:off x="6419850" y="5410200"/>
            <a:ext cx="523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Talk to a trusted adult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409700"/>
            <a:ext cx="5562600" cy="3429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6383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1752600"/>
            <a:ext cx="323850" cy="3429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08610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657600"/>
            <a:ext cx="238125" cy="2667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229100"/>
            <a:ext cx="171450" cy="2667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1409700"/>
            <a:ext cx="5562600" cy="34290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1638300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38925" y="1752600"/>
            <a:ext cx="247650" cy="3429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3657600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4229100"/>
            <a:ext cx="171450" cy="2667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5753100"/>
            <a:ext cx="11430000" cy="7239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400" y="5962650"/>
            <a:ext cx="228600" cy="3048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Malware &amp; Data Breaches: </a:t>
            </a:r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BF0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the Threats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381000" y="838200"/>
            <a:ext cx="1143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digital threats work and what they target</a:t>
            </a:r>
            <a:endParaRPr lang="en-US" sz="1350" dirty="0"/>
          </a:p>
        </p:txBody>
      </p:sp>
      <p:sp>
        <p:nvSpPr>
          <p:cNvPr id="19" name="Text 2"/>
          <p:cNvSpPr/>
          <p:nvPr/>
        </p:nvSpPr>
        <p:spPr>
          <a:xfrm>
            <a:off x="1333500" y="1771650"/>
            <a:ext cx="24194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Malware &amp; Viruses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609600" y="2400300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Malware is designed to damage your device, steal your data, or gain unauthorized access.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914400" y="3048000"/>
            <a:ext cx="38483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Untrusted Downloads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914400" y="3276600"/>
            <a:ext cx="3848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Software from unofficial websites can contain malware</a:t>
            </a:r>
            <a:endParaRPr lang="en-US" sz="1050" dirty="0"/>
          </a:p>
        </p:txBody>
      </p:sp>
      <p:sp>
        <p:nvSpPr>
          <p:cNvPr id="23" name="Text 6"/>
          <p:cNvSpPr/>
          <p:nvPr/>
        </p:nvSpPr>
        <p:spPr>
          <a:xfrm>
            <a:off x="962025" y="3619500"/>
            <a:ext cx="3075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Suspicious Links</a:t>
            </a:r>
            <a:endParaRPr lang="en-US" sz="1200" dirty="0"/>
          </a:p>
        </p:txBody>
      </p:sp>
      <p:sp>
        <p:nvSpPr>
          <p:cNvPr id="24" name="Text 7"/>
          <p:cNvSpPr/>
          <p:nvPr/>
        </p:nvSpPr>
        <p:spPr>
          <a:xfrm>
            <a:off x="962025" y="3848100"/>
            <a:ext cx="36911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Links in emails or messages can download malware</a:t>
            </a:r>
            <a:endParaRPr lang="en-US" sz="1050" dirty="0"/>
          </a:p>
        </p:txBody>
      </p:sp>
      <p:sp>
        <p:nvSpPr>
          <p:cNvPr id="25" name="Text 8"/>
          <p:cNvSpPr/>
          <p:nvPr/>
        </p:nvSpPr>
        <p:spPr>
          <a:xfrm>
            <a:off x="895350" y="4191000"/>
            <a:ext cx="31279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Ransomware</a:t>
            </a: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895350" y="4419600"/>
            <a:ext cx="37535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Encrypts your files and demands payment for access</a:t>
            </a:r>
            <a:endParaRPr lang="en-US" sz="1050" dirty="0"/>
          </a:p>
        </p:txBody>
      </p:sp>
      <p:sp>
        <p:nvSpPr>
          <p:cNvPr id="27" name="Text 10"/>
          <p:cNvSpPr/>
          <p:nvPr/>
        </p:nvSpPr>
        <p:spPr>
          <a:xfrm>
            <a:off x="7200900" y="1771650"/>
            <a:ext cx="303448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Leaks &amp; Breaches</a:t>
            </a:r>
            <a:endParaRPr lang="en-US" sz="1800" dirty="0"/>
          </a:p>
        </p:txBody>
      </p:sp>
      <p:sp>
        <p:nvSpPr>
          <p:cNvPr id="28" name="Text 11"/>
          <p:cNvSpPr/>
          <p:nvPr/>
        </p:nvSpPr>
        <p:spPr>
          <a:xfrm>
            <a:off x="6477000" y="2400300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breaches occur when personal information is exposed from a company's database.</a:t>
            </a:r>
            <a:endParaRPr lang="en-US" sz="1200" dirty="0"/>
          </a:p>
        </p:txBody>
      </p:sp>
      <p:sp>
        <p:nvSpPr>
          <p:cNvPr id="29" name="Text 12"/>
          <p:cNvSpPr/>
          <p:nvPr/>
        </p:nvSpPr>
        <p:spPr>
          <a:xfrm>
            <a:off x="6591300" y="3048000"/>
            <a:ext cx="3001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Company Hacks</a:t>
            </a:r>
            <a:endParaRPr lang="en-US" sz="1200" dirty="0"/>
          </a:p>
        </p:txBody>
      </p:sp>
      <p:sp>
        <p:nvSpPr>
          <p:cNvPr id="30" name="Text 13"/>
          <p:cNvSpPr/>
          <p:nvPr/>
        </p:nvSpPr>
        <p:spPr>
          <a:xfrm>
            <a:off x="6591300" y="3276600"/>
            <a:ext cx="36022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Cybercriminals target companies to steal user data</a:t>
            </a:r>
            <a:endParaRPr lang="en-US" sz="1050" dirty="0"/>
          </a:p>
        </p:txBody>
      </p:sp>
      <p:sp>
        <p:nvSpPr>
          <p:cNvPr id="31" name="Text 14"/>
          <p:cNvSpPr/>
          <p:nvPr/>
        </p:nvSpPr>
        <p:spPr>
          <a:xfrm>
            <a:off x="6781800" y="3619500"/>
            <a:ext cx="29722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Weak Security</a:t>
            </a:r>
            <a:endParaRPr lang="en-US" sz="1200" dirty="0"/>
          </a:p>
        </p:txBody>
      </p:sp>
      <p:sp>
        <p:nvSpPr>
          <p:cNvPr id="32" name="Text 15"/>
          <p:cNvSpPr/>
          <p:nvPr/>
        </p:nvSpPr>
        <p:spPr>
          <a:xfrm>
            <a:off x="6781800" y="3848100"/>
            <a:ext cx="35666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Companies with poor security are more vulnerable</a:t>
            </a:r>
            <a:endParaRPr lang="en-US" sz="1050" dirty="0"/>
          </a:p>
        </p:txBody>
      </p:sp>
      <p:sp>
        <p:nvSpPr>
          <p:cNvPr id="33" name="Text 16"/>
          <p:cNvSpPr/>
          <p:nvPr/>
        </p:nvSpPr>
        <p:spPr>
          <a:xfrm>
            <a:off x="6762750" y="4191000"/>
            <a:ext cx="35754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Third-Party Sharing</a:t>
            </a:r>
            <a:endParaRPr lang="en-US" sz="1200" dirty="0"/>
          </a:p>
        </p:txBody>
      </p:sp>
      <p:sp>
        <p:nvSpPr>
          <p:cNvPr id="34" name="Text 17"/>
          <p:cNvSpPr/>
          <p:nvPr/>
        </p:nvSpPr>
        <p:spPr>
          <a:xfrm>
            <a:off x="6762750" y="4419600"/>
            <a:ext cx="35754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Social media platforms share data with advertisers</a:t>
            </a:r>
            <a:endParaRPr lang="en-US" sz="1050" dirty="0"/>
          </a:p>
        </p:txBody>
      </p:sp>
      <p:sp>
        <p:nvSpPr>
          <p:cNvPr id="35" name="Text 18"/>
          <p:cNvSpPr/>
          <p:nvPr/>
        </p:nvSpPr>
        <p:spPr>
          <a:xfrm>
            <a:off x="876300" y="5905500"/>
            <a:ext cx="701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Consequences</a:t>
            </a:r>
            <a:endParaRPr lang="en-US" sz="1200" dirty="0"/>
          </a:p>
        </p:txBody>
      </p:sp>
      <p:sp>
        <p:nvSpPr>
          <p:cNvPr id="36" name="Text 19"/>
          <p:cNvSpPr/>
          <p:nvPr/>
        </p:nvSpPr>
        <p:spPr>
          <a:xfrm>
            <a:off x="876300" y="6134100"/>
            <a:ext cx="84237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Exposed data can be used for identity theft, fraudulent purchases, or accessing other accounts if you reuse passwords.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62100"/>
            <a:ext cx="3657600" cy="2857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790700"/>
            <a:ext cx="285750" cy="3429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3241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6670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0099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810000"/>
            <a:ext cx="3200400" cy="762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810000"/>
            <a:ext cx="2400300" cy="762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7200" y="1562100"/>
            <a:ext cx="3657600" cy="2857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5800" y="1924050"/>
            <a:ext cx="285750" cy="3429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2895600"/>
            <a:ext cx="1143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0" y="32385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95800" y="3581400"/>
            <a:ext cx="3200400" cy="6096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10100" y="3819525"/>
            <a:ext cx="133350" cy="1333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53400" y="1562100"/>
            <a:ext cx="3657600" cy="28575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82000" y="1790700"/>
            <a:ext cx="219075" cy="3429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58200" y="23241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58200" y="26670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82000" y="3238500"/>
            <a:ext cx="3200400" cy="4191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96300" y="3381375"/>
            <a:ext cx="133350" cy="13335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Fortify Your Fortress: </a:t>
            </a:r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BF0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Account Security Basics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381000" y="838200"/>
            <a:ext cx="1143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Building a strong defense for your online accounts</a:t>
            </a:r>
            <a:endParaRPr lang="en-US" sz="1350" dirty="0"/>
          </a:p>
        </p:txBody>
      </p:sp>
      <p:sp>
        <p:nvSpPr>
          <p:cNvPr id="25" name="Text 2"/>
          <p:cNvSpPr/>
          <p:nvPr/>
        </p:nvSpPr>
        <p:spPr>
          <a:xfrm>
            <a:off x="1009650" y="1809750"/>
            <a:ext cx="317128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Unbreakable Passwords</a:t>
            </a:r>
            <a:endParaRPr lang="en-US" sz="1800" dirty="0"/>
          </a:p>
        </p:txBody>
      </p:sp>
      <p:sp>
        <p:nvSpPr>
          <p:cNvPr id="26" name="Text 3"/>
          <p:cNvSpPr/>
          <p:nvPr/>
        </p:nvSpPr>
        <p:spPr>
          <a:xfrm>
            <a:off x="914400" y="2286000"/>
            <a:ext cx="30694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Length is Key: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At least 12 characters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914400" y="2628900"/>
            <a:ext cx="3018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Mix It Up: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Letters, numbers, symbols</a:t>
            </a:r>
            <a:endParaRPr lang="en-US" sz="1200" dirty="0"/>
          </a:p>
        </p:txBody>
      </p:sp>
      <p:sp>
        <p:nvSpPr>
          <p:cNvPr id="28" name="Text 5"/>
          <p:cNvSpPr/>
          <p:nvPr/>
        </p:nvSpPr>
        <p:spPr>
          <a:xfrm>
            <a:off x="914400" y="297180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Avoid Personal Info: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 names, birthdays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609600" y="3581400"/>
            <a:ext cx="3840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Password Strength Meter:</a:t>
            </a:r>
            <a:endParaRPr lang="en-US" sz="1050" dirty="0"/>
          </a:p>
        </p:txBody>
      </p:sp>
      <p:sp>
        <p:nvSpPr>
          <p:cNvPr id="30" name="Text 7"/>
          <p:cNvSpPr/>
          <p:nvPr/>
        </p:nvSpPr>
        <p:spPr>
          <a:xfrm>
            <a:off x="733425" y="3962400"/>
            <a:ext cx="3840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Pro-Tip: Use a password manager</a:t>
            </a:r>
            <a:endParaRPr lang="en-US" sz="900" dirty="0"/>
          </a:p>
        </p:txBody>
      </p:sp>
      <p:sp>
        <p:nvSpPr>
          <p:cNvPr id="31" name="Text 8"/>
          <p:cNvSpPr/>
          <p:nvPr/>
        </p:nvSpPr>
        <p:spPr>
          <a:xfrm>
            <a:off x="4895850" y="1790700"/>
            <a:ext cx="2800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Two-Factor Authentication</a:t>
            </a:r>
            <a:endParaRPr lang="en-US" sz="1800" dirty="0"/>
          </a:p>
        </p:txBody>
      </p:sp>
      <p:sp>
        <p:nvSpPr>
          <p:cNvPr id="32" name="Text 9"/>
          <p:cNvSpPr/>
          <p:nvPr/>
        </p:nvSpPr>
        <p:spPr>
          <a:xfrm>
            <a:off x="4495800" y="2552700"/>
            <a:ext cx="3840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a second layer of security</a:t>
            </a:r>
            <a:endParaRPr lang="en-US" sz="1050" dirty="0"/>
          </a:p>
        </p:txBody>
      </p:sp>
      <p:sp>
        <p:nvSpPr>
          <p:cNvPr id="33" name="Text 10"/>
          <p:cNvSpPr/>
          <p:nvPr/>
        </p:nvSpPr>
        <p:spPr>
          <a:xfrm>
            <a:off x="4762500" y="2857500"/>
            <a:ext cx="279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Authenticator Apps: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Most secure</a:t>
            </a:r>
            <a:endParaRPr lang="en-US" sz="1200" dirty="0"/>
          </a:p>
        </p:txBody>
      </p:sp>
      <p:sp>
        <p:nvSpPr>
          <p:cNvPr id="34" name="Text 11"/>
          <p:cNvSpPr/>
          <p:nvPr/>
        </p:nvSpPr>
        <p:spPr>
          <a:xfrm>
            <a:off x="4800600" y="3200400"/>
            <a:ext cx="21038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SMS Codes: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Less secure</a:t>
            </a:r>
            <a:endParaRPr lang="en-US" sz="1200" dirty="0"/>
          </a:p>
        </p:txBody>
      </p:sp>
      <p:sp>
        <p:nvSpPr>
          <p:cNvPr id="35" name="Text 12"/>
          <p:cNvSpPr/>
          <p:nvPr/>
        </p:nvSpPr>
        <p:spPr>
          <a:xfrm>
            <a:off x="4819650" y="3695700"/>
            <a:ext cx="2971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Recommendation: Use authenticator apps over SMS</a:t>
            </a:r>
            <a:endParaRPr lang="en-US" sz="1050" dirty="0"/>
          </a:p>
        </p:txBody>
      </p:sp>
      <p:sp>
        <p:nvSpPr>
          <p:cNvPr id="36" name="Text 13"/>
          <p:cNvSpPr/>
          <p:nvPr/>
        </p:nvSpPr>
        <p:spPr>
          <a:xfrm>
            <a:off x="8715375" y="1809750"/>
            <a:ext cx="224099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 Permissions</a:t>
            </a:r>
            <a:endParaRPr lang="en-US" sz="1800" dirty="0"/>
          </a:p>
        </p:txBody>
      </p:sp>
      <p:sp>
        <p:nvSpPr>
          <p:cNvPr id="37" name="Text 14"/>
          <p:cNvSpPr/>
          <p:nvPr/>
        </p:nvSpPr>
        <p:spPr>
          <a:xfrm>
            <a:off x="8686800" y="2286000"/>
            <a:ext cx="30391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Carefully: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Read permissions</a:t>
            </a:r>
            <a:endParaRPr lang="en-US" sz="1200" dirty="0"/>
          </a:p>
        </p:txBody>
      </p:sp>
      <p:sp>
        <p:nvSpPr>
          <p:cNvPr id="38" name="Text 15"/>
          <p:cNvSpPr/>
          <p:nvPr/>
        </p:nvSpPr>
        <p:spPr>
          <a:xfrm>
            <a:off x="8686800" y="262890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Disable Unnecessary: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Turn off unused access</a:t>
            </a:r>
            <a:endParaRPr lang="en-US" sz="1200" dirty="0"/>
          </a:p>
        </p:txBody>
      </p:sp>
      <p:sp>
        <p:nvSpPr>
          <p:cNvPr id="39" name="Text 16"/>
          <p:cNvSpPr/>
          <p:nvPr/>
        </p:nvSpPr>
        <p:spPr>
          <a:xfrm>
            <a:off x="8705850" y="3352800"/>
            <a:ext cx="35661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Regularly review app permissions</a:t>
            </a:r>
            <a:endParaRPr lang="en-US" sz="1050" dirty="0"/>
          </a:p>
        </p:txBody>
      </p:sp>
      <p:sp>
        <p:nvSpPr>
          <p:cNvPr id="40" name="Text 17"/>
          <p:cNvSpPr/>
          <p:nvPr/>
        </p:nvSpPr>
        <p:spPr>
          <a:xfrm>
            <a:off x="571500" y="6286500"/>
            <a:ext cx="1371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BF0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Tip:</a:t>
            </a:r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If you can't remember your password, you can't use it to log in.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333500"/>
            <a:ext cx="6534150" cy="800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485900"/>
            <a:ext cx="266700" cy="2667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286000"/>
            <a:ext cx="6534150" cy="800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438400"/>
            <a:ext cx="266700" cy="2667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238500"/>
            <a:ext cx="6534150" cy="800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3390900"/>
            <a:ext cx="266700" cy="2667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0" y="1752600"/>
            <a:ext cx="4667250" cy="8763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6150" y="1905000"/>
            <a:ext cx="171450" cy="304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3750" y="2781300"/>
            <a:ext cx="4667250" cy="8763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96150" y="29337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0" y="3810000"/>
            <a:ext cx="4667250" cy="10287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96150" y="4010025"/>
            <a:ext cx="152400" cy="1714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6172200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57829" y="6257925"/>
            <a:ext cx="104775" cy="13335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Step-by-Step: Setting Up </a:t>
            </a:r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BF0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Two-Factor Authentication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381000" y="838200"/>
            <a:ext cx="1143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an extra layer of security to your accounts</a:t>
            </a:r>
            <a:endParaRPr lang="en-US" sz="1350" dirty="0"/>
          </a:p>
        </p:txBody>
      </p:sp>
      <p:sp>
        <p:nvSpPr>
          <p:cNvPr id="20" name="Text 2"/>
          <p:cNvSpPr/>
          <p:nvPr/>
        </p:nvSpPr>
        <p:spPr>
          <a:xfrm>
            <a:off x="624334" y="1485900"/>
            <a:ext cx="320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3"/>
          <p:cNvSpPr/>
          <p:nvPr/>
        </p:nvSpPr>
        <p:spPr>
          <a:xfrm>
            <a:off x="914400" y="1485900"/>
            <a:ext cx="47038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 to Settings &amp; Security</a:t>
            </a:r>
            <a:endParaRPr lang="en-US" sz="1500" dirty="0"/>
          </a:p>
        </p:txBody>
      </p:sp>
      <p:sp>
        <p:nvSpPr>
          <p:cNvPr id="22" name="Text 4"/>
          <p:cNvSpPr/>
          <p:nvPr/>
        </p:nvSpPr>
        <p:spPr>
          <a:xfrm>
            <a:off x="914400" y="1790700"/>
            <a:ext cx="47038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app, navigate to profile, tap menu icon and select "Settings".</a:t>
            </a:r>
            <a:endParaRPr lang="en-US" sz="1050" dirty="0"/>
          </a:p>
        </p:txBody>
      </p:sp>
      <p:sp>
        <p:nvSpPr>
          <p:cNvPr id="23" name="Text 5"/>
          <p:cNvSpPr/>
          <p:nvPr/>
        </p:nvSpPr>
        <p:spPr>
          <a:xfrm>
            <a:off x="624334" y="2438400"/>
            <a:ext cx="320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914400" y="2438400"/>
            <a:ext cx="3973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 Two-Factor Authentication</a:t>
            </a:r>
            <a:endParaRPr lang="en-US" sz="1500" dirty="0"/>
          </a:p>
        </p:txBody>
      </p:sp>
      <p:sp>
        <p:nvSpPr>
          <p:cNvPr id="25" name="Text 7"/>
          <p:cNvSpPr/>
          <p:nvPr/>
        </p:nvSpPr>
        <p:spPr>
          <a:xfrm>
            <a:off x="914400" y="2743200"/>
            <a:ext cx="39738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"Two-Factor Authentication" in the Security section.</a:t>
            </a:r>
            <a:endParaRPr lang="en-US" sz="1050" dirty="0"/>
          </a:p>
        </p:txBody>
      </p:sp>
      <p:sp>
        <p:nvSpPr>
          <p:cNvPr id="26" name="Text 8"/>
          <p:cNvSpPr/>
          <p:nvPr/>
        </p:nvSpPr>
        <p:spPr>
          <a:xfrm>
            <a:off x="624334" y="3390900"/>
            <a:ext cx="320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914400" y="3390900"/>
            <a:ext cx="23308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Your Method</a:t>
            </a:r>
            <a:endParaRPr lang="en-US" sz="1500" dirty="0"/>
          </a:p>
        </p:txBody>
      </p:sp>
      <p:sp>
        <p:nvSpPr>
          <p:cNvPr id="28" name="Text 10"/>
          <p:cNvSpPr/>
          <p:nvPr/>
        </p:nvSpPr>
        <p:spPr>
          <a:xfrm>
            <a:off x="914400" y="3695700"/>
            <a:ext cx="23308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 an authentication method:</a:t>
            </a:r>
            <a:endParaRPr lang="en-US" sz="1050" dirty="0"/>
          </a:p>
        </p:txBody>
      </p:sp>
      <p:sp>
        <p:nvSpPr>
          <p:cNvPr id="29" name="Text 11"/>
          <p:cNvSpPr/>
          <p:nvPr/>
        </p:nvSpPr>
        <p:spPr>
          <a:xfrm>
            <a:off x="7143750" y="1333500"/>
            <a:ext cx="560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Methods:</a:t>
            </a:r>
            <a:endParaRPr lang="en-US" sz="1500" dirty="0"/>
          </a:p>
        </p:txBody>
      </p:sp>
      <p:sp>
        <p:nvSpPr>
          <p:cNvPr id="30" name="Text 12"/>
          <p:cNvSpPr/>
          <p:nvPr/>
        </p:nvSpPr>
        <p:spPr>
          <a:xfrm>
            <a:off x="7581900" y="1924050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Authenticator App </a:t>
            </a:r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9333EA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RECOMMENDED</a:t>
            </a:r>
            <a:endParaRPr lang="en-US" sz="1350" dirty="0"/>
          </a:p>
        </p:txBody>
      </p:sp>
      <p:sp>
        <p:nvSpPr>
          <p:cNvPr id="31" name="Text 13"/>
          <p:cNvSpPr/>
          <p:nvPr/>
        </p:nvSpPr>
        <p:spPr>
          <a:xfrm>
            <a:off x="7639050" y="2286000"/>
            <a:ext cx="48234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secure option. Generate time-sensitive codes.</a:t>
            </a:r>
            <a:endParaRPr lang="en-US" sz="1050" dirty="0"/>
          </a:p>
        </p:txBody>
      </p:sp>
      <p:sp>
        <p:nvSpPr>
          <p:cNvPr id="32" name="Text 14"/>
          <p:cNvSpPr/>
          <p:nvPr/>
        </p:nvSpPr>
        <p:spPr>
          <a:xfrm>
            <a:off x="7639050" y="2952750"/>
            <a:ext cx="11319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SMS Codes</a:t>
            </a:r>
            <a:endParaRPr lang="en-US" sz="1350" dirty="0"/>
          </a:p>
        </p:txBody>
      </p:sp>
      <p:sp>
        <p:nvSpPr>
          <p:cNvPr id="33" name="Text 15"/>
          <p:cNvSpPr/>
          <p:nvPr/>
        </p:nvSpPr>
        <p:spPr>
          <a:xfrm>
            <a:off x="7639050" y="3314700"/>
            <a:ext cx="48234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Less secure due to SIM swap attacks.</a:t>
            </a:r>
            <a:endParaRPr lang="en-US" sz="1050" dirty="0"/>
          </a:p>
        </p:txBody>
      </p:sp>
      <p:sp>
        <p:nvSpPr>
          <p:cNvPr id="34" name="Text 16"/>
          <p:cNvSpPr/>
          <p:nvPr/>
        </p:nvSpPr>
        <p:spPr>
          <a:xfrm>
            <a:off x="7524750" y="3962400"/>
            <a:ext cx="4362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Save Backup Codes!</a:t>
            </a:r>
            <a:endParaRPr lang="en-US" sz="1350" dirty="0"/>
          </a:p>
        </p:txBody>
      </p:sp>
      <p:sp>
        <p:nvSpPr>
          <p:cNvPr id="35" name="Text 17"/>
          <p:cNvSpPr/>
          <p:nvPr/>
        </p:nvSpPr>
        <p:spPr>
          <a:xfrm>
            <a:off x="7296150" y="4305300"/>
            <a:ext cx="4362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 these codes in a secure location. They're essential if you lose your device.</a:t>
            </a:r>
            <a:endParaRPr lang="en-US" sz="1050" dirty="0"/>
          </a:p>
        </p:txBody>
      </p:sp>
      <p:sp>
        <p:nvSpPr>
          <p:cNvPr id="36" name="Text 18"/>
          <p:cNvSpPr/>
          <p:nvPr/>
        </p:nvSpPr>
        <p:spPr>
          <a:xfrm>
            <a:off x="723900" y="6229350"/>
            <a:ext cx="54964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it matters: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2FA adds a crucial second layer of security to your accounts.</a:t>
            </a:r>
            <a:endParaRPr lang="en-US" sz="1050" dirty="0"/>
          </a:p>
        </p:txBody>
      </p:sp>
      <p:sp>
        <p:nvSpPr>
          <p:cNvPr id="37" name="Text 19"/>
          <p:cNvSpPr/>
          <p:nvPr/>
        </p:nvSpPr>
        <p:spPr>
          <a:xfrm>
            <a:off x="9238804" y="6229350"/>
            <a:ext cx="30866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Scan QR codes with your authenticator app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409700"/>
            <a:ext cx="3657600" cy="31623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771650"/>
            <a:ext cx="247650" cy="3429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80035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009900"/>
            <a:ext cx="1600200" cy="4953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295650"/>
            <a:ext cx="104775" cy="1143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9800" y="280035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9800" y="3009900"/>
            <a:ext cx="1600200" cy="4953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6000" y="3295650"/>
            <a:ext cx="104775" cy="1143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67200" y="1409700"/>
            <a:ext cx="3657600" cy="31623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95800" y="1638300"/>
            <a:ext cx="361950" cy="3429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95800" y="27432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95800" y="30861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95800" y="4000500"/>
            <a:ext cx="190500" cy="152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53400" y="1409700"/>
            <a:ext cx="3657600" cy="31623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82000" y="1638300"/>
            <a:ext cx="361950" cy="3429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82000" y="2667000"/>
            <a:ext cx="3200400" cy="952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82000" y="356235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82000" y="3867150"/>
            <a:ext cx="114300" cy="152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1000" y="6286500"/>
            <a:ext cx="11430000" cy="1905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Surf Smart: </a:t>
            </a:r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BF0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 Browsing Habits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381000" y="838200"/>
            <a:ext cx="1371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Protect your data with these essential browser safety tips</a:t>
            </a:r>
            <a:endParaRPr lang="en-US" sz="1350" dirty="0"/>
          </a:p>
        </p:txBody>
      </p:sp>
      <p:sp>
        <p:nvSpPr>
          <p:cNvPr id="25" name="Text 2"/>
          <p:cNvSpPr/>
          <p:nvPr/>
        </p:nvSpPr>
        <p:spPr>
          <a:xfrm>
            <a:off x="971550" y="1638300"/>
            <a:ext cx="28384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Look for the Lock (HTTPS)</a:t>
            </a:r>
            <a:endParaRPr lang="en-US" sz="1800" dirty="0"/>
          </a:p>
        </p:txBody>
      </p:sp>
      <p:sp>
        <p:nvSpPr>
          <p:cNvPr id="26" name="Text 3"/>
          <p:cNvSpPr/>
          <p:nvPr/>
        </p:nvSpPr>
        <p:spPr>
          <a:xfrm>
            <a:off x="609600" y="24003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 websites use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https://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instead of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71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http://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838200" y="2781300"/>
            <a:ext cx="5070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</a:t>
            </a:r>
            <a:endParaRPr lang="en-US" sz="1050" dirty="0"/>
          </a:p>
        </p:txBody>
      </p:sp>
      <p:sp>
        <p:nvSpPr>
          <p:cNvPr id="28" name="Text 5"/>
          <p:cNvSpPr/>
          <p:nvPr/>
        </p:nvSpPr>
        <p:spPr>
          <a:xfrm>
            <a:off x="685800" y="3009900"/>
            <a:ext cx="1600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https://www.yourbank.com</a:t>
            </a:r>
            <a:endParaRPr lang="en-US" sz="900" dirty="0"/>
          </a:p>
        </p:txBody>
      </p:sp>
      <p:sp>
        <p:nvSpPr>
          <p:cNvPr id="29" name="Text 6"/>
          <p:cNvSpPr/>
          <p:nvPr/>
        </p:nvSpPr>
        <p:spPr>
          <a:xfrm>
            <a:off x="2438400" y="2781300"/>
            <a:ext cx="6138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Insecure</a:t>
            </a:r>
            <a:endParaRPr lang="en-US" sz="1050" dirty="0"/>
          </a:p>
        </p:txBody>
      </p:sp>
      <p:sp>
        <p:nvSpPr>
          <p:cNvPr id="30" name="Text 7"/>
          <p:cNvSpPr/>
          <p:nvPr/>
        </p:nvSpPr>
        <p:spPr>
          <a:xfrm>
            <a:off x="2286000" y="3009900"/>
            <a:ext cx="1600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http://www.anysite.com</a:t>
            </a:r>
            <a:endParaRPr lang="en-US" sz="900" dirty="0"/>
          </a:p>
        </p:txBody>
      </p:sp>
      <p:sp>
        <p:nvSpPr>
          <p:cNvPr id="31" name="Text 8"/>
          <p:cNvSpPr/>
          <p:nvPr/>
        </p:nvSpPr>
        <p:spPr>
          <a:xfrm>
            <a:off x="781050" y="3657600"/>
            <a:ext cx="3200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HTTPS encrypts your data, protecting it from eavesdroppers</a:t>
            </a:r>
            <a:endParaRPr lang="en-US" sz="1050" dirty="0"/>
          </a:p>
        </p:txBody>
      </p:sp>
      <p:sp>
        <p:nvSpPr>
          <p:cNvPr id="32" name="Text 9"/>
          <p:cNvSpPr/>
          <p:nvPr/>
        </p:nvSpPr>
        <p:spPr>
          <a:xfrm>
            <a:off x="4972050" y="1657350"/>
            <a:ext cx="29544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Beware of Public Wi-Fi</a:t>
            </a:r>
            <a:endParaRPr lang="en-US" sz="1800" dirty="0"/>
          </a:p>
        </p:txBody>
      </p:sp>
      <p:sp>
        <p:nvSpPr>
          <p:cNvPr id="33" name="Text 10"/>
          <p:cNvSpPr/>
          <p:nvPr/>
        </p:nvSpPr>
        <p:spPr>
          <a:xfrm>
            <a:off x="4495800" y="2133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Public networks are convenient but often lack security:</a:t>
            </a:r>
            <a:endParaRPr lang="en-US" sz="1200" dirty="0"/>
          </a:p>
        </p:txBody>
      </p:sp>
      <p:sp>
        <p:nvSpPr>
          <p:cNvPr id="34" name="Text 11"/>
          <p:cNvSpPr/>
          <p:nvPr/>
        </p:nvSpPr>
        <p:spPr>
          <a:xfrm>
            <a:off x="4724400" y="2705100"/>
            <a:ext cx="33341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Risk: Data can be intercepted by hackers</a:t>
            </a:r>
            <a:endParaRPr lang="en-US" sz="1200" dirty="0"/>
          </a:p>
        </p:txBody>
      </p:sp>
      <p:sp>
        <p:nvSpPr>
          <p:cNvPr id="35" name="Text 12"/>
          <p:cNvSpPr/>
          <p:nvPr/>
        </p:nvSpPr>
        <p:spPr>
          <a:xfrm>
            <a:off x="4724400" y="3048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 1: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Avoid sensitive activities on public Wi-Fi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4572000" y="3619500"/>
            <a:ext cx="36356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 2: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Use a VPN to encrypt your connection</a:t>
            </a:r>
            <a:endParaRPr lang="en-US" sz="1200" dirty="0"/>
          </a:p>
        </p:txBody>
      </p:sp>
      <p:sp>
        <p:nvSpPr>
          <p:cNvPr id="37" name="Text 14"/>
          <p:cNvSpPr/>
          <p:nvPr/>
        </p:nvSpPr>
        <p:spPr>
          <a:xfrm>
            <a:off x="4762500" y="3962400"/>
            <a:ext cx="29610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 3: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Verify network name with staff</a:t>
            </a:r>
            <a:endParaRPr lang="en-US" sz="1200" dirty="0"/>
          </a:p>
        </p:txBody>
      </p:sp>
      <p:sp>
        <p:nvSpPr>
          <p:cNvPr id="38" name="Text 15"/>
          <p:cNvSpPr/>
          <p:nvPr/>
        </p:nvSpPr>
        <p:spPr>
          <a:xfrm>
            <a:off x="8858250" y="1657350"/>
            <a:ext cx="24397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Block the Trackers</a:t>
            </a:r>
            <a:endParaRPr lang="en-US" sz="1800" dirty="0"/>
          </a:p>
        </p:txBody>
      </p:sp>
      <p:sp>
        <p:nvSpPr>
          <p:cNvPr id="39" name="Text 16"/>
          <p:cNvSpPr/>
          <p:nvPr/>
        </p:nvSpPr>
        <p:spPr>
          <a:xfrm>
            <a:off x="8382000" y="2133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Websites use trackers to build profiles of you:</a:t>
            </a:r>
            <a:endParaRPr lang="en-US" sz="1200" dirty="0"/>
          </a:p>
        </p:txBody>
      </p:sp>
      <p:sp>
        <p:nvSpPr>
          <p:cNvPr id="40" name="Text 17"/>
          <p:cNvSpPr/>
          <p:nvPr/>
        </p:nvSpPr>
        <p:spPr>
          <a:xfrm>
            <a:off x="8382000" y="2476500"/>
            <a:ext cx="528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Trackers</a:t>
            </a:r>
            <a:endParaRPr lang="en-US" sz="900" dirty="0"/>
          </a:p>
        </p:txBody>
      </p:sp>
      <p:sp>
        <p:nvSpPr>
          <p:cNvPr id="41" name="Text 18"/>
          <p:cNvSpPr/>
          <p:nvPr/>
        </p:nvSpPr>
        <p:spPr>
          <a:xfrm>
            <a:off x="11385352" y="2476500"/>
            <a:ext cx="2364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Ads</a:t>
            </a:r>
            <a:endParaRPr lang="en-US" sz="900" dirty="0"/>
          </a:p>
        </p:txBody>
      </p:sp>
      <p:sp>
        <p:nvSpPr>
          <p:cNvPr id="42" name="Text 19"/>
          <p:cNvSpPr/>
          <p:nvPr/>
        </p:nvSpPr>
        <p:spPr>
          <a:xfrm>
            <a:off x="8382000" y="291465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Privacy Solutions:</a:t>
            </a:r>
            <a:endParaRPr lang="en-US" sz="1200" dirty="0"/>
          </a:p>
        </p:txBody>
      </p:sp>
      <p:sp>
        <p:nvSpPr>
          <p:cNvPr id="43" name="Text 20"/>
          <p:cNvSpPr/>
          <p:nvPr/>
        </p:nvSpPr>
        <p:spPr>
          <a:xfrm>
            <a:off x="8458200" y="3219450"/>
            <a:ext cx="27851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Privacy Browsers: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Brave, Firefox</a:t>
            </a:r>
            <a:endParaRPr lang="en-US" sz="1200" dirty="0"/>
          </a:p>
        </p:txBody>
      </p:sp>
      <p:sp>
        <p:nvSpPr>
          <p:cNvPr id="44" name="Text 21"/>
          <p:cNvSpPr/>
          <p:nvPr/>
        </p:nvSpPr>
        <p:spPr>
          <a:xfrm>
            <a:off x="8610600" y="3524250"/>
            <a:ext cx="35166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Extensions: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uBlock Origin, Privacy Badger</a:t>
            </a:r>
            <a:endParaRPr lang="en-US" sz="1200" dirty="0"/>
          </a:p>
        </p:txBody>
      </p:sp>
      <p:sp>
        <p:nvSpPr>
          <p:cNvPr id="45" name="Text 22"/>
          <p:cNvSpPr/>
          <p:nvPr/>
        </p:nvSpPr>
        <p:spPr>
          <a:xfrm>
            <a:off x="8572500" y="3829050"/>
            <a:ext cx="3090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Delete IDs: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Advertising IDs in settings</a:t>
            </a:r>
            <a:endParaRPr lang="en-US" sz="1200" dirty="0"/>
          </a:p>
        </p:txBody>
      </p:sp>
      <p:sp>
        <p:nvSpPr>
          <p:cNvPr id="46" name="Text 23"/>
          <p:cNvSpPr/>
          <p:nvPr/>
        </p:nvSpPr>
        <p:spPr>
          <a:xfrm>
            <a:off x="561975" y="6286500"/>
            <a:ext cx="1371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 Tip: Regularly check your browser's security settings and extensions to maintain your online privacy.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62100"/>
            <a:ext cx="3657600" cy="3238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7907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905000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5527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1242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9243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7200" y="1562100"/>
            <a:ext cx="3657600" cy="32385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5800" y="1790700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8675" y="1905000"/>
            <a:ext cx="285750" cy="3429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25527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0" y="33528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0" y="39243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53400" y="1562100"/>
            <a:ext cx="3657600" cy="32385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2000" y="1790700"/>
            <a:ext cx="571500" cy="5715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24875" y="1905000"/>
            <a:ext cx="285750" cy="3429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58200" y="25527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58200" y="31242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58200" y="39243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1000" y="5867400"/>
            <a:ext cx="11430000" cy="6096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3400" y="6019800"/>
            <a:ext cx="171450" cy="3048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Master Your </a:t>
            </a:r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BF0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Identity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381000" y="838200"/>
            <a:ext cx="1371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Take control of your online presence and protect your reputation</a:t>
            </a:r>
            <a:endParaRPr lang="en-US" sz="1350" dirty="0"/>
          </a:p>
        </p:txBody>
      </p:sp>
      <p:sp>
        <p:nvSpPr>
          <p:cNvPr id="26" name="Text 2"/>
          <p:cNvSpPr/>
          <p:nvPr/>
        </p:nvSpPr>
        <p:spPr>
          <a:xfrm>
            <a:off x="1333500" y="1924050"/>
            <a:ext cx="23065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 Your Profile</a:t>
            </a:r>
            <a:endParaRPr lang="en-US" sz="1800" dirty="0"/>
          </a:p>
        </p:txBody>
      </p:sp>
      <p:sp>
        <p:nvSpPr>
          <p:cNvPr id="27" name="Text 3"/>
          <p:cNvSpPr/>
          <p:nvPr/>
        </p:nvSpPr>
        <p:spPr>
          <a:xfrm>
            <a:off x="914400" y="251460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 Yourself: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Type your name into search engines to see what comes up</a:t>
            </a:r>
            <a:endParaRPr lang="en-US" sz="1200" dirty="0"/>
          </a:p>
        </p:txBody>
      </p:sp>
      <p:sp>
        <p:nvSpPr>
          <p:cNvPr id="28" name="Text 4"/>
          <p:cNvSpPr/>
          <p:nvPr/>
        </p:nvSpPr>
        <p:spPr>
          <a:xfrm>
            <a:off x="914400" y="30861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Old Content: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Check social media posts, photos, and comments you've shared</a:t>
            </a:r>
            <a:endParaRPr lang="en-US" sz="1200" dirty="0"/>
          </a:p>
        </p:txBody>
      </p:sp>
      <p:sp>
        <p:nvSpPr>
          <p:cNvPr id="29" name="Text 5"/>
          <p:cNvSpPr/>
          <p:nvPr/>
        </p:nvSpPr>
        <p:spPr>
          <a:xfrm>
            <a:off x="914400" y="38862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"Grandma Test":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If you wouldn't want your grandma to see it, adjust privacy settings</a:t>
            </a:r>
            <a:endParaRPr lang="en-US" sz="1200" dirty="0"/>
          </a:p>
        </p:txBody>
      </p:sp>
      <p:sp>
        <p:nvSpPr>
          <p:cNvPr id="30" name="Text 6"/>
          <p:cNvSpPr/>
          <p:nvPr/>
        </p:nvSpPr>
        <p:spPr>
          <a:xfrm>
            <a:off x="5219700" y="1924050"/>
            <a:ext cx="213455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Privacy Settings</a:t>
            </a:r>
            <a:endParaRPr lang="en-US" sz="1800" dirty="0"/>
          </a:p>
        </p:txBody>
      </p:sp>
      <p:sp>
        <p:nvSpPr>
          <p:cNvPr id="31" name="Text 7"/>
          <p:cNvSpPr/>
          <p:nvPr/>
        </p:nvSpPr>
        <p:spPr>
          <a:xfrm>
            <a:off x="4800600" y="25146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Make Profiles Private: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Set social media to private so only approved friends can see your content</a:t>
            </a:r>
            <a:endParaRPr lang="en-US" sz="1200" dirty="0"/>
          </a:p>
        </p:txBody>
      </p:sp>
      <p:sp>
        <p:nvSpPr>
          <p:cNvPr id="32" name="Text 8"/>
          <p:cNvSpPr/>
          <p:nvPr/>
        </p:nvSpPr>
        <p:spPr>
          <a:xfrm>
            <a:off x="4800600" y="331470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 Post Visibility: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Customize who can see your posts, stories, and updates</a:t>
            </a:r>
            <a:endParaRPr lang="en-US" sz="1200" dirty="0"/>
          </a:p>
        </p:txBody>
      </p:sp>
      <p:sp>
        <p:nvSpPr>
          <p:cNvPr id="33" name="Text 9"/>
          <p:cNvSpPr/>
          <p:nvPr/>
        </p:nvSpPr>
        <p:spPr>
          <a:xfrm>
            <a:off x="4800600" y="38862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 Tagging: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Review and approve photos you're tagged in before they appear on your profile</a:t>
            </a:r>
            <a:endParaRPr lang="en-US" sz="1200" dirty="0"/>
          </a:p>
        </p:txBody>
      </p:sp>
      <p:sp>
        <p:nvSpPr>
          <p:cNvPr id="34" name="Text 10"/>
          <p:cNvSpPr/>
          <p:nvPr/>
        </p:nvSpPr>
        <p:spPr>
          <a:xfrm>
            <a:off x="9105900" y="1924050"/>
            <a:ext cx="29162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Think Before You Post</a:t>
            </a:r>
            <a:endParaRPr lang="en-US" sz="1800" dirty="0"/>
          </a:p>
        </p:txBody>
      </p:sp>
      <p:sp>
        <p:nvSpPr>
          <p:cNvPr id="35" name="Text 11"/>
          <p:cNvSpPr/>
          <p:nvPr/>
        </p:nvSpPr>
        <p:spPr>
          <a:xfrm>
            <a:off x="8686800" y="251460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Pause &amp; Reflect: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Consider the potential impact before hitting "post"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8686800" y="30861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Avoid Oversharing: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 cautious about sharing personal information like your address or phone number</a:t>
            </a:r>
            <a:endParaRPr lang="en-US" sz="1200" dirty="0"/>
          </a:p>
        </p:txBody>
      </p:sp>
      <p:sp>
        <p:nvSpPr>
          <p:cNvPr id="37" name="Text 13"/>
          <p:cNvSpPr/>
          <p:nvPr/>
        </p:nvSpPr>
        <p:spPr>
          <a:xfrm>
            <a:off x="8686800" y="38862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Emotional Posts: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Avoid posting when you're angry or upset as it can be regretted later</a:t>
            </a:r>
            <a:endParaRPr lang="en-US" sz="1200" dirty="0"/>
          </a:p>
        </p:txBody>
      </p:sp>
      <p:sp>
        <p:nvSpPr>
          <p:cNvPr id="38" name="Text 14"/>
          <p:cNvSpPr/>
          <p:nvPr/>
        </p:nvSpPr>
        <p:spPr>
          <a:xfrm>
            <a:off x="857250" y="6076950"/>
            <a:ext cx="126362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 Tip: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Regularly reviewing and adjusting your privacy settings is like giving yourself a digital makeover—helping you maintain control over your online presence and who sees it.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381000"/>
            <a:ext cx="762000" cy="762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524000"/>
            <a:ext cx="5600700" cy="1371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676400"/>
            <a:ext cx="342900" cy="3429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2476500"/>
            <a:ext cx="1010989" cy="2667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900" y="2543175"/>
            <a:ext cx="114300" cy="1333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5889" y="2476500"/>
            <a:ext cx="796082" cy="2667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0189" y="2543175"/>
            <a:ext cx="114300" cy="1333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26271" y="2476500"/>
            <a:ext cx="1000720" cy="2667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40571" y="2543175"/>
            <a:ext cx="133350" cy="1333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3048000"/>
            <a:ext cx="5600700" cy="2171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400" y="3200400"/>
            <a:ext cx="342900" cy="3429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8700" y="40767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8700" y="44577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8700" y="48387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0300" y="1524000"/>
            <a:ext cx="5600700" cy="17907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62700" y="1676400"/>
            <a:ext cx="342900" cy="3429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0" y="25527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0" y="29337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10300" y="3467100"/>
            <a:ext cx="5600700" cy="21717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62700" y="3619500"/>
            <a:ext cx="342900" cy="3429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58000" y="44958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58000" y="487680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58000" y="52578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81000" y="6210300"/>
            <a:ext cx="142875" cy="2667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381000" y="400050"/>
            <a:ext cx="85360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Hands-On: </a:t>
            </a:r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BF0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5-Minute Privacy Check-Up</a:t>
            </a:r>
            <a:endParaRPr lang="en-US" sz="2700" dirty="0"/>
          </a:p>
        </p:txBody>
      </p:sp>
      <p:sp>
        <p:nvSpPr>
          <p:cNvPr id="29" name="Text 1"/>
          <p:cNvSpPr/>
          <p:nvPr/>
        </p:nvSpPr>
        <p:spPr>
          <a:xfrm>
            <a:off x="381000" y="857250"/>
            <a:ext cx="85360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Take control of your online privacy with this quick audit</a:t>
            </a:r>
            <a:endParaRPr lang="en-US" sz="1350" dirty="0"/>
          </a:p>
        </p:txBody>
      </p:sp>
      <p:sp>
        <p:nvSpPr>
          <p:cNvPr id="30" name="Text 2"/>
          <p:cNvSpPr/>
          <p:nvPr/>
        </p:nvSpPr>
        <p:spPr>
          <a:xfrm>
            <a:off x="11131451" y="381000"/>
            <a:ext cx="914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min</a:t>
            </a:r>
            <a:endParaRPr lang="en-US" sz="1800" dirty="0"/>
          </a:p>
        </p:txBody>
      </p:sp>
      <p:sp>
        <p:nvSpPr>
          <p:cNvPr id="31" name="Text 3"/>
          <p:cNvSpPr/>
          <p:nvPr/>
        </p:nvSpPr>
        <p:spPr>
          <a:xfrm>
            <a:off x="662434" y="167640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990600" y="1714500"/>
            <a:ext cx="16680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an App</a:t>
            </a:r>
            <a:endParaRPr lang="en-US" sz="1500" dirty="0"/>
          </a:p>
        </p:txBody>
      </p:sp>
      <p:sp>
        <p:nvSpPr>
          <p:cNvPr id="33" name="Text 5"/>
          <p:cNvSpPr/>
          <p:nvPr/>
        </p:nvSpPr>
        <p:spPr>
          <a:xfrm>
            <a:off x="990600" y="2133600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Pick your most used social media app</a:t>
            </a:r>
            <a:endParaRPr lang="en-US" sz="1200" dirty="0"/>
          </a:p>
        </p:txBody>
      </p:sp>
      <p:sp>
        <p:nvSpPr>
          <p:cNvPr id="34" name="Text 6"/>
          <p:cNvSpPr/>
          <p:nvPr/>
        </p:nvSpPr>
        <p:spPr>
          <a:xfrm>
            <a:off x="1257300" y="2476500"/>
            <a:ext cx="12131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Instagram</a:t>
            </a:r>
            <a:endParaRPr lang="en-US" sz="1050" dirty="0"/>
          </a:p>
        </p:txBody>
      </p:sp>
      <p:sp>
        <p:nvSpPr>
          <p:cNvPr id="35" name="Text 7"/>
          <p:cNvSpPr/>
          <p:nvPr/>
        </p:nvSpPr>
        <p:spPr>
          <a:xfrm>
            <a:off x="2382589" y="2476500"/>
            <a:ext cx="9552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TikTok</a:t>
            </a:r>
            <a:endParaRPr lang="en-US" sz="1050" dirty="0"/>
          </a:p>
        </p:txBody>
      </p:sp>
      <p:sp>
        <p:nvSpPr>
          <p:cNvPr id="36" name="Text 8"/>
          <p:cNvSpPr/>
          <p:nvPr/>
        </p:nvSpPr>
        <p:spPr>
          <a:xfrm>
            <a:off x="3312021" y="2476500"/>
            <a:ext cx="12008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Snapchat</a:t>
            </a:r>
            <a:endParaRPr lang="en-US" sz="1050" dirty="0"/>
          </a:p>
        </p:txBody>
      </p:sp>
      <p:sp>
        <p:nvSpPr>
          <p:cNvPr id="37" name="Text 9"/>
          <p:cNvSpPr/>
          <p:nvPr/>
        </p:nvSpPr>
        <p:spPr>
          <a:xfrm>
            <a:off x="662434" y="320040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10"/>
          <p:cNvSpPr/>
          <p:nvPr/>
        </p:nvSpPr>
        <p:spPr>
          <a:xfrm>
            <a:off x="990600" y="3238500"/>
            <a:ext cx="26551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Account Visibility</a:t>
            </a:r>
            <a:endParaRPr lang="en-US" sz="1500" dirty="0"/>
          </a:p>
        </p:txBody>
      </p:sp>
      <p:sp>
        <p:nvSpPr>
          <p:cNvPr id="39" name="Text 11"/>
          <p:cNvSpPr/>
          <p:nvPr/>
        </p:nvSpPr>
        <p:spPr>
          <a:xfrm>
            <a:off x="990600" y="3657600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Navigate to Settings &gt; Privacy</a:t>
            </a:r>
            <a:endParaRPr lang="en-US" sz="1200" dirty="0"/>
          </a:p>
        </p:txBody>
      </p:sp>
      <p:sp>
        <p:nvSpPr>
          <p:cNvPr id="40" name="Text 12"/>
          <p:cNvSpPr/>
          <p:nvPr/>
        </p:nvSpPr>
        <p:spPr>
          <a:xfrm>
            <a:off x="1257300" y="4038600"/>
            <a:ext cx="245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 your account set to Private?</a:t>
            </a:r>
            <a:endParaRPr lang="en-US" sz="1200" dirty="0"/>
          </a:p>
        </p:txBody>
      </p:sp>
      <p:sp>
        <p:nvSpPr>
          <p:cNvPr id="41" name="Text 13"/>
          <p:cNvSpPr/>
          <p:nvPr/>
        </p:nvSpPr>
        <p:spPr>
          <a:xfrm>
            <a:off x="1257300" y="4419600"/>
            <a:ext cx="3080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Who can see your profile information?</a:t>
            </a:r>
            <a:endParaRPr lang="en-US" sz="1200" dirty="0"/>
          </a:p>
        </p:txBody>
      </p:sp>
      <p:sp>
        <p:nvSpPr>
          <p:cNvPr id="42" name="Text 14"/>
          <p:cNvSpPr/>
          <p:nvPr/>
        </p:nvSpPr>
        <p:spPr>
          <a:xfrm>
            <a:off x="1257300" y="4800600"/>
            <a:ext cx="23888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strangers message you?</a:t>
            </a:r>
            <a:endParaRPr lang="en-US" sz="1200" dirty="0"/>
          </a:p>
        </p:txBody>
      </p:sp>
      <p:sp>
        <p:nvSpPr>
          <p:cNvPr id="43" name="Text 15"/>
          <p:cNvSpPr/>
          <p:nvPr/>
        </p:nvSpPr>
        <p:spPr>
          <a:xfrm>
            <a:off x="6491734" y="167640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Text 16"/>
          <p:cNvSpPr/>
          <p:nvPr/>
        </p:nvSpPr>
        <p:spPr>
          <a:xfrm>
            <a:off x="6819900" y="1714500"/>
            <a:ext cx="34000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Tagged Photos &amp; Posts</a:t>
            </a:r>
            <a:endParaRPr lang="en-US" sz="1500" dirty="0"/>
          </a:p>
        </p:txBody>
      </p:sp>
      <p:sp>
        <p:nvSpPr>
          <p:cNvPr id="45" name="Text 17"/>
          <p:cNvSpPr/>
          <p:nvPr/>
        </p:nvSpPr>
        <p:spPr>
          <a:xfrm>
            <a:off x="6819900" y="2133600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 to your profile &gt; Media &gt; Tags</a:t>
            </a:r>
            <a:endParaRPr lang="en-US" sz="1200" dirty="0"/>
          </a:p>
        </p:txBody>
      </p:sp>
      <p:sp>
        <p:nvSpPr>
          <p:cNvPr id="46" name="Text 18"/>
          <p:cNvSpPr/>
          <p:nvPr/>
        </p:nvSpPr>
        <p:spPr>
          <a:xfrm>
            <a:off x="7086600" y="2514600"/>
            <a:ext cx="30903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Untag yourself from unwanted content</a:t>
            </a:r>
            <a:endParaRPr lang="en-US" sz="1200" dirty="0"/>
          </a:p>
        </p:txBody>
      </p:sp>
      <p:sp>
        <p:nvSpPr>
          <p:cNvPr id="47" name="Text 19"/>
          <p:cNvSpPr/>
          <p:nvPr/>
        </p:nvSpPr>
        <p:spPr>
          <a:xfrm>
            <a:off x="7086600" y="2895600"/>
            <a:ext cx="33950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if tags appear with your permission</a:t>
            </a:r>
            <a:endParaRPr lang="en-US" sz="1200" dirty="0"/>
          </a:p>
        </p:txBody>
      </p:sp>
      <p:sp>
        <p:nvSpPr>
          <p:cNvPr id="48" name="Text 20"/>
          <p:cNvSpPr/>
          <p:nvPr/>
        </p:nvSpPr>
        <p:spPr>
          <a:xfrm>
            <a:off x="6491734" y="361950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Text 21"/>
          <p:cNvSpPr/>
          <p:nvPr/>
        </p:nvSpPr>
        <p:spPr>
          <a:xfrm>
            <a:off x="6819900" y="3657600"/>
            <a:ext cx="28628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Examine App Permissions</a:t>
            </a:r>
            <a:endParaRPr lang="en-US" sz="1500" dirty="0"/>
          </a:p>
        </p:txBody>
      </p:sp>
      <p:sp>
        <p:nvSpPr>
          <p:cNvPr id="50" name="Text 22"/>
          <p:cNvSpPr/>
          <p:nvPr/>
        </p:nvSpPr>
        <p:spPr>
          <a:xfrm>
            <a:off x="6819900" y="4076700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phone settings &gt; Apps &gt; [App Name] &gt; Permissions</a:t>
            </a:r>
            <a:endParaRPr lang="en-US" sz="1200" dirty="0"/>
          </a:p>
        </p:txBody>
      </p:sp>
      <p:sp>
        <p:nvSpPr>
          <p:cNvPr id="51" name="Text 23"/>
          <p:cNvSpPr/>
          <p:nvPr/>
        </p:nvSpPr>
        <p:spPr>
          <a:xfrm>
            <a:off x="7086600" y="4457700"/>
            <a:ext cx="2663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Location: Only allow if necessary</a:t>
            </a:r>
            <a:endParaRPr lang="en-US" sz="1200" dirty="0"/>
          </a:p>
        </p:txBody>
      </p:sp>
      <p:sp>
        <p:nvSpPr>
          <p:cNvPr id="52" name="Text 24"/>
          <p:cNvSpPr/>
          <p:nvPr/>
        </p:nvSpPr>
        <p:spPr>
          <a:xfrm>
            <a:off x="7086600" y="4838700"/>
            <a:ext cx="2368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Camera: For photo apps only</a:t>
            </a:r>
            <a:endParaRPr lang="en-US" sz="1200" dirty="0"/>
          </a:p>
        </p:txBody>
      </p:sp>
      <p:sp>
        <p:nvSpPr>
          <p:cNvPr id="53" name="Text 25"/>
          <p:cNvSpPr/>
          <p:nvPr/>
        </p:nvSpPr>
        <p:spPr>
          <a:xfrm>
            <a:off x="7086600" y="5219700"/>
            <a:ext cx="2653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Microphone: For video apps only</a:t>
            </a:r>
            <a:endParaRPr lang="en-US" sz="1200" dirty="0"/>
          </a:p>
        </p:txBody>
      </p:sp>
      <p:sp>
        <p:nvSpPr>
          <p:cNvPr id="54" name="Text 26"/>
          <p:cNvSpPr/>
          <p:nvPr/>
        </p:nvSpPr>
        <p:spPr>
          <a:xfrm>
            <a:off x="638175" y="6248400"/>
            <a:ext cx="58764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 Tip: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Make this a monthly habit to keep your digital footprint secure and private.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371600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790700"/>
            <a:ext cx="5562600" cy="762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952625"/>
            <a:ext cx="285750" cy="2857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705100"/>
            <a:ext cx="5562600" cy="7620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867025"/>
            <a:ext cx="285750" cy="2857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3619500"/>
            <a:ext cx="5562600" cy="7620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3781425"/>
            <a:ext cx="247650" cy="2857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4533900"/>
            <a:ext cx="5562600" cy="7620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4695825"/>
            <a:ext cx="285750" cy="2857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1371600"/>
            <a:ext cx="285750" cy="228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1790700"/>
            <a:ext cx="5562600" cy="2057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2324100"/>
            <a:ext cx="238125" cy="2667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2819400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3314700"/>
            <a:ext cx="190500" cy="2667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 the Shield: </a:t>
            </a:r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BF0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Safety Toolkit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381000" y="838200"/>
            <a:ext cx="1143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resources for online protection</a:t>
            </a:r>
            <a:endParaRPr lang="en-US" sz="1350" dirty="0"/>
          </a:p>
        </p:txBody>
      </p:sp>
      <p:sp>
        <p:nvSpPr>
          <p:cNvPr id="20" name="Text 2"/>
          <p:cNvSpPr/>
          <p:nvPr/>
        </p:nvSpPr>
        <p:spPr>
          <a:xfrm>
            <a:off x="723900" y="1333500"/>
            <a:ext cx="556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Key Takeaways</a:t>
            </a:r>
            <a:endParaRPr lang="en-US" sz="1800" dirty="0"/>
          </a:p>
        </p:txBody>
      </p:sp>
      <p:sp>
        <p:nvSpPr>
          <p:cNvPr id="21" name="Text 3"/>
          <p:cNvSpPr/>
          <p:nvPr/>
        </p:nvSpPr>
        <p:spPr>
          <a:xfrm>
            <a:off x="971550" y="1943100"/>
            <a:ext cx="38876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Passwords + 2FA</a:t>
            </a:r>
            <a:endParaRPr lang="en-US" sz="1200" dirty="0"/>
          </a:p>
        </p:txBody>
      </p:sp>
      <p:sp>
        <p:nvSpPr>
          <p:cNvPr id="22" name="Text 4"/>
          <p:cNvSpPr/>
          <p:nvPr/>
        </p:nvSpPr>
        <p:spPr>
          <a:xfrm>
            <a:off x="971550" y="2209800"/>
            <a:ext cx="38876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unique passwords and enable 2FA on all accounts</a:t>
            </a:r>
            <a:endParaRPr lang="en-US" sz="1050" dirty="0"/>
          </a:p>
        </p:txBody>
      </p:sp>
      <p:sp>
        <p:nvSpPr>
          <p:cNvPr id="23" name="Text 5"/>
          <p:cNvSpPr/>
          <p:nvPr/>
        </p:nvSpPr>
        <p:spPr>
          <a:xfrm>
            <a:off x="971550" y="2857500"/>
            <a:ext cx="3575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Think Before You Share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971550" y="3124200"/>
            <a:ext cx="357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Consider the long-term impact of your online posts</a:t>
            </a:r>
            <a:endParaRPr lang="en-US" sz="1050" dirty="0"/>
          </a:p>
        </p:txBody>
      </p:sp>
      <p:sp>
        <p:nvSpPr>
          <p:cNvPr id="25" name="Text 7"/>
          <p:cNvSpPr/>
          <p:nvPr/>
        </p:nvSpPr>
        <p:spPr>
          <a:xfrm>
            <a:off x="933450" y="3771900"/>
            <a:ext cx="34420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Settings Private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933450" y="4038600"/>
            <a:ext cx="34420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Regularly review privacy settings on all accounts</a:t>
            </a:r>
            <a:endParaRPr lang="en-US" sz="1050" dirty="0"/>
          </a:p>
        </p:txBody>
      </p:sp>
      <p:sp>
        <p:nvSpPr>
          <p:cNvPr id="27" name="Text 9"/>
          <p:cNvSpPr/>
          <p:nvPr/>
        </p:nvSpPr>
        <p:spPr>
          <a:xfrm>
            <a:off x="971550" y="4686300"/>
            <a:ext cx="27551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Trust Your Gut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971550" y="4953000"/>
            <a:ext cx="33061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something feels off, it probably is. Seek help.</a:t>
            </a:r>
            <a:endParaRPr lang="en-US" sz="1050" dirty="0"/>
          </a:p>
        </p:txBody>
      </p:sp>
      <p:sp>
        <p:nvSpPr>
          <p:cNvPr id="29" name="Text 11"/>
          <p:cNvSpPr/>
          <p:nvPr/>
        </p:nvSpPr>
        <p:spPr>
          <a:xfrm>
            <a:off x="6648450" y="1333500"/>
            <a:ext cx="556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to Get Help</a:t>
            </a:r>
            <a:endParaRPr lang="en-US" sz="1800" dirty="0"/>
          </a:p>
        </p:txBody>
      </p:sp>
      <p:sp>
        <p:nvSpPr>
          <p:cNvPr id="30" name="Text 12"/>
          <p:cNvSpPr/>
          <p:nvPr/>
        </p:nvSpPr>
        <p:spPr>
          <a:xfrm>
            <a:off x="6438900" y="1981200"/>
            <a:ext cx="62179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you ever feel unsafe online, remember you're not alone. Here are trusted resources:</a:t>
            </a:r>
            <a:endParaRPr lang="en-US" sz="1050" dirty="0"/>
          </a:p>
        </p:txBody>
      </p:sp>
      <p:sp>
        <p:nvSpPr>
          <p:cNvPr id="31" name="Text 13"/>
          <p:cNvSpPr/>
          <p:nvPr/>
        </p:nvSpPr>
        <p:spPr>
          <a:xfrm>
            <a:off x="6791325" y="2286000"/>
            <a:ext cx="16619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ConnectSafely.org</a:t>
            </a:r>
            <a:endParaRPr lang="en-US" sz="1200" dirty="0"/>
          </a:p>
        </p:txBody>
      </p:sp>
      <p:sp>
        <p:nvSpPr>
          <p:cNvPr id="32" name="Text 14"/>
          <p:cNvSpPr/>
          <p:nvPr/>
        </p:nvSpPr>
        <p:spPr>
          <a:xfrm>
            <a:off x="6791325" y="2514600"/>
            <a:ext cx="16619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Resources for online safety</a:t>
            </a:r>
            <a:endParaRPr lang="en-US" sz="900" dirty="0"/>
          </a:p>
        </p:txBody>
      </p:sp>
      <p:sp>
        <p:nvSpPr>
          <p:cNvPr id="33" name="Text 15"/>
          <p:cNvSpPr/>
          <p:nvPr/>
        </p:nvSpPr>
        <p:spPr>
          <a:xfrm>
            <a:off x="6743700" y="2781300"/>
            <a:ext cx="30112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NCMEC CyberTipline</a:t>
            </a:r>
            <a:endParaRPr lang="en-US" sz="1200" dirty="0"/>
          </a:p>
        </p:txBody>
      </p:sp>
      <p:sp>
        <p:nvSpPr>
          <p:cNvPr id="34" name="Text 16"/>
          <p:cNvSpPr/>
          <p:nvPr/>
        </p:nvSpPr>
        <p:spPr>
          <a:xfrm>
            <a:off x="6743700" y="3009900"/>
            <a:ext cx="30112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 suspected exploitation (1-800-THE-LOST)</a:t>
            </a:r>
            <a:endParaRPr lang="en-US" sz="900" dirty="0"/>
          </a:p>
        </p:txBody>
      </p:sp>
      <p:sp>
        <p:nvSpPr>
          <p:cNvPr id="35" name="Text 17"/>
          <p:cNvSpPr/>
          <p:nvPr/>
        </p:nvSpPr>
        <p:spPr>
          <a:xfrm>
            <a:off x="6743700" y="3276600"/>
            <a:ext cx="14355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UNICEF's Kindly</a:t>
            </a:r>
            <a:endParaRPr lang="en-US" sz="1200" dirty="0"/>
          </a:p>
        </p:txBody>
      </p:sp>
      <p:sp>
        <p:nvSpPr>
          <p:cNvPr id="36" name="Text 18"/>
          <p:cNvSpPr/>
          <p:nvPr/>
        </p:nvSpPr>
        <p:spPr>
          <a:xfrm>
            <a:off x="6743700" y="3505200"/>
            <a:ext cx="14355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Ends cyberbullying</a:t>
            </a:r>
            <a:endParaRPr lang="en-US" sz="900" dirty="0"/>
          </a:p>
        </p:txBody>
      </p:sp>
      <p:sp>
        <p:nvSpPr>
          <p:cNvPr id="37" name="Text 19"/>
          <p:cNvSpPr/>
          <p:nvPr/>
        </p:nvSpPr>
        <p:spPr>
          <a:xfrm>
            <a:off x="-762000" y="6210300"/>
            <a:ext cx="1371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F0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</a:t>
            </a:r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have the power to shape your online experience. Be smart, be safe, and be a positive influence!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2025-11-14T15:04:13Z</dcterms:created>
  <dcterms:modified xsi:type="dcterms:W3CDTF">2025-11-14T15:04:13Z</dcterms:modified>
</cp:coreProperties>
</file>